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457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E8EEF4"/>
                </a:solidFill>
                <a:latin typeface="Menlo"/>
              </a:rPr>
              <a:t>THE MEDIA CUSTOMS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43400"/>
            <a:ext cx="94457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9DAFBE"/>
                </a:solidFill>
                <a:latin typeface="Helvetica Neue"/>
              </a:rPr>
              <a:t>An AI crew that clears your commercial for 15 markets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</a:pPr>
            <a:r>
              <a:rPr sz="2200" b="0">
                <a:solidFill>
                  <a:srgbClr val="9DAFBE"/>
                </a:solidFill>
                <a:latin typeface="Helvetica Neue"/>
              </a:rPr>
              <a:t>and re-renders what fails.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806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3768A"/>
                </a:solidFill>
                <a:latin typeface="Menlo"/>
              </a:rPr>
              <a:t>AGENTIC CINEMA 2026  /  GRAFANA LABS TRACK  /  GEMINI + ADK + GRAFANA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34440"/>
            <a:ext cx="3566160" cy="1801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01 /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One spot, dozens of markets,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3600" b="1">
                <a:solidFill>
                  <a:srgbClr val="E8EEF4"/>
                </a:solidFill>
                <a:latin typeface="Helvetica Neue"/>
              </a:rPr>
              <a:t>and the public as your QA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10543032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28575" cy="11430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07208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REGULATED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807208"/>
            <a:ext cx="7955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France bans TV alcohol ads (Loi Evin). Quebec bans ads to under-13s. The UK pre-clears every TV ad through Clearcast. Nigeria requires ARCON vetting. Each miss carries an invoice.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995928"/>
            <a:ext cx="10543032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995928"/>
            <a:ext cx="28575" cy="11430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05656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UNREGULATED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105656"/>
            <a:ext cx="7955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Pepsi and Kendall Jenner. Dolce &amp; Gabbana in China. H&amp;M's hoodie. Burger King's chopsticks. Caught by the public, at a cost measured in tens of millions.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294376"/>
            <a:ext cx="10543032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294376"/>
            <a:ext cx="28575" cy="1143000"/>
          </a:xfrm>
          <a:prstGeom prst="rect">
            <a:avLst/>
          </a:prstGeom>
          <a:solidFill>
            <a:srgbClr val="637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404104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TODAY'S DEFENCE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404104"/>
            <a:ext cx="7955279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A cultural consultant, a focus group, and luck. Nobody has an instrument for this.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02 / THE INSTRUMENT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Load a commercial. Watch it clear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3600" b="1">
                <a:solidFill>
                  <a:srgbClr val="E8EEF4"/>
                </a:solidFill>
                <a:latin typeface="Helvetica Neue"/>
              </a:rPr>
              <a:t>customs in real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9DAFBE"/>
                </a:solidFill>
                <a:latin typeface="Helvetica Neue"/>
              </a:rPr>
              <a:t>Fifteen market tiles flip from pending to cleared, at risk or blocked as adjudicators return. Every finding cites the statute. The output is a decision (can this air here, on what evidence) and a localized master (the version that can).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931920"/>
            <a:ext cx="28575" cy="13716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4D5E"/>
                </a:solidFill>
                <a:latin typeface="Menlo"/>
              </a:rPr>
              <a:t>BLOCKED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24328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24328" y="3931920"/>
            <a:ext cx="28575" cy="1371600"/>
          </a:xfrm>
          <a:prstGeom prst="rect">
            <a:avLst/>
          </a:prstGeom>
          <a:solidFill>
            <a:srgbClr val="FF4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4D5E"/>
                </a:solidFill>
                <a:latin typeface="Menlo"/>
              </a:rPr>
              <a:t>BLOCKED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25696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25696" y="3931920"/>
            <a:ext cx="28575" cy="137160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D67F"/>
                </a:solidFill>
                <a:latin typeface="Menlo"/>
              </a:rPr>
              <a:t>CLEARED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27064" y="3931920"/>
            <a:ext cx="28575" cy="137160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9D2E"/>
                </a:solidFill>
                <a:latin typeface="Menlo"/>
              </a:rPr>
              <a:t>AT RISK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28432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28432" y="3931920"/>
            <a:ext cx="28575" cy="137160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3024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D67F"/>
                </a:solidFill>
                <a:latin typeface="Menlo"/>
              </a:rPr>
              <a:t>CLEARED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931920"/>
            <a:ext cx="1600200" cy="13716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3931920"/>
            <a:ext cx="28575" cy="137160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94392" y="40690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EF4"/>
                </a:solidFill>
                <a:latin typeface="Menlo"/>
              </a:rPr>
              <a:t>JP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94392" y="4709160"/>
            <a:ext cx="1417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FD67F"/>
                </a:solidFill>
                <a:latin typeface="Menlo"/>
              </a:rPr>
              <a:t>CLEARED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623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“Cleared for launch in 9 of 15 markets” is a go or no-go, not a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03 / THE CREW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Seven agents, one closed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574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ffmpeg shots, keyframes, audio; Gemini transcription and OCR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243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ANALYST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62432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watches once; neutral timecoded observations, 18 dimensions, no verdicts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9125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ADJUDICATORS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91256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one per market, in parallel; observations x rulebook, Google Search 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818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GUARD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58184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a rule layer, not a model; blocks protected-basis remediation, cannot be prompted away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25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PUBLISHER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2511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builds the Grafana surface over MCP; metrics, logs, annotations, alert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92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REMEDIATOR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89204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woken by a Grafana alert; re-letters, re-props, re-voices the failing 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589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9D2E"/>
                </a:solidFill>
                <a:latin typeface="Menlo"/>
              </a:rPr>
              <a:t>VERIFIER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45896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re-runs the same instrument on the changed shots; only it may resolve a finding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1733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The Verifier closing back onto the Analyst is what makes this a crew rather than a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04 /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Observe once. Judge per market.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029200" cy="31089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28575" cy="31089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ONE MULTIMODAL PASS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0">
                <a:solidFill>
                  <a:srgbClr val="9DAFBE"/>
                </a:solidFill>
                <a:latin typeface="Helvetica Neue"/>
              </a:rPr>
              <a:t>The Analyst emits facts, never verdicts: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300" b="0">
                <a:solidFill>
                  <a:srgbClr val="E8EEF4"/>
                </a:solidFill>
                <a:latin typeface="Menlo"/>
              </a:rPr>
              <a:t>“A glass of red wine sits on the table in front of the left-hand actor.”  t=12.4s, conf 0.91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400" b="0">
                <a:solidFill>
                  <a:srgbClr val="63768A"/>
                </a:solidFill>
                <a:latin typeface="Helvetica Neue"/>
              </a:rPr>
              <a:t>No market. No severity. No opinion.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103120"/>
            <a:ext cx="5029200" cy="31089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03120"/>
            <a:ext cx="28575" cy="3108960"/>
          </a:xfrm>
          <a:prstGeom prst="rect">
            <a:avLst/>
          </a:prstGeom>
          <a:solidFill>
            <a:srgbClr val="2FD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572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FIFTEEN CHEAP JUDGES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500" b="0">
                <a:solidFill>
                  <a:srgbClr val="9DAFBE"/>
                </a:solidFill>
                <a:latin typeface="Helvetica Neue"/>
              </a:rPr>
              <a:t>Every finding is a join: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400" b="0">
                <a:solidFill>
                  <a:srgbClr val="E8EEF4"/>
                </a:solidFill>
                <a:latin typeface="Menlo"/>
              </a:rPr>
              <a:t>observation x market rule x citation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</a:pPr>
            <a:r>
              <a:rPr sz="1400" b="0">
                <a:solidFill>
                  <a:srgbClr val="9DAFBE"/>
                </a:solidFill>
                <a:latin typeface="Helvetica Neue"/>
              </a:rPr>
              <a:t>The expensive pass runs once, not per market. When a brand disputes a finding, “is the fact wrong” and “is the rule wrong” are separable questions.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Unsourced citations cap severity at 40 and never trigger remediation. 15 packs, 114 rules, every rule naming its statute or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05 / THE 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Some findings are not edits.</a:t>
            </a:r>
          </a:p>
          <a:p>
            <a:pPr algn="l">
              <a:lnSpc>
                <a:spcPct val="100000"/>
              </a:lnSpc>
              <a:spcBef>
                <a:spcPts val="200"/>
              </a:spcBef>
            </a:pPr>
            <a:r>
              <a:rPr sz="3600" b="1">
                <a:solidFill>
                  <a:srgbClr val="E8EEF4"/>
                </a:solidFill>
                <a:latin typeface="Helvetica Neue"/>
              </a:rPr>
              <a:t>They are decisions.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10543032" cy="210312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28575" cy="2103120"/>
          </a:xfrm>
          <a:prstGeom prst="rect">
            <a:avLst/>
          </a:prstGeom>
          <a:solidFill>
            <a:srgbClr val="8A6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9966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SA-LGBT-01  /  LEGAL  /  SEVERITY 90  /  SOURCED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0">
                <a:solidFill>
                  <a:srgbClr val="9DAFBE"/>
                </a:solidFill>
                <a:latin typeface="Helvetica Neue"/>
              </a:rPr>
              <a:t>The test ad shows a same-sex couple holding hands. Saudi Arabia's GAM media standards prohibit it. The Guard marks it remediation_blocked: the system names the problem, cites the regulation, and hands it to a human.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600" b="1">
                <a:solidFill>
                  <a:srgbClr val="E8EEF4"/>
                </a:solidFill>
                <a:latin typeface="Helvetica Neue"/>
              </a:rPr>
              <a:t>The Media Customs will tell you that you cannot ship into a market without censoring who appears in your ad. It will not do that for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63768A"/>
                </a:solidFill>
                <a:latin typeface="Helvetica Neue"/>
              </a:rPr>
              <a:t>The Guard reads only market-pack rule metadata, never model output, so it cannot be argued out of by a prompt. Offence-class findings are never auto-remediated either.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06 / GRAFANA AS PARTICIPANT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EEF4"/>
                </a:solidFill>
                <a:latin typeface="Helvetica Neue"/>
              </a:rPr>
              <a:t>The crew builds its own instrument panel.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10543032" cy="10515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28575" cy="10515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THE CREW WRITES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194560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DAFBE"/>
                </a:solidFill>
                <a:latin typeface="Helvetica Neue"/>
              </a:rPr>
              <a:t>The Publisher provisions six dashboards and the alert rules over the Grafana MCP server, pushes customs_risk to Mimir over OTLP, findings to Loki, and writes every finding as an annotation.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10128"/>
            <a:ext cx="10543032" cy="10515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10128"/>
            <a:ext cx="28575" cy="10515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01568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GRAFANA TRIGGERS THE CREW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401568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DAFBE"/>
                </a:solidFill>
                <a:latin typeface="Helvetica Neue"/>
              </a:rPr>
              <a:t>An alert rule fires a webhook into Cloud Run and wakes the Remediator. Grafana sits upstream of the work, not in a report after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517136"/>
            <a:ext cx="10543032" cy="105156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517136"/>
            <a:ext cx="28575" cy="1051560"/>
          </a:xfrm>
          <a:prstGeom prst="rect">
            <a:avLst/>
          </a:prstGeom>
          <a:solidFill>
            <a:srgbClr val="FF9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608576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THE CREW READS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608576"/>
            <a:ext cx="6858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9DAFBE"/>
                </a:solidFill>
                <a:latin typeface="Helvetica Neue"/>
              </a:rPr>
              <a:t>Before remediating, the Remediator queries campaign history over MCP: has this brand tripped this rule before, and what was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9864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E8EEF4"/>
                </a:solidFill>
                <a:latin typeface="Helvetica Neue"/>
              </a:rPr>
              <a:t>When the Verifier confirms a fix, the metric drops and Grafana resolves the alert on its own. That resolution is the demo's closing beat.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07 / HYPER-LOCALIZATION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EEF4"/>
                </a:solidFill>
                <a:latin typeface="Helvetica Neue"/>
              </a:rPr>
              <a:t>The Remediator re-renders what fails.</a:t>
            </a:r>
          </a:p>
        </p:txBody>
      </p:sp>
      <p:pic>
        <p:nvPicPr>
          <p:cNvPr id="5" name="Picture 4" descr="02-remediation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5029200" cy="2825496"/>
          </a:xfrm>
          <a:prstGeom prst="rect">
            <a:avLst/>
          </a:prstGeom>
        </p:spPr>
      </p:pic>
      <p:pic>
        <p:nvPicPr>
          <p:cNvPr id="6" name="Picture 5" descr="03-remediation-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011680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892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768A"/>
                </a:solidFill>
                <a:latin typeface="Menlo"/>
              </a:rPr>
              <a:t>BEFORE  /  FR-LANG-01, Loi Toubon: English-only on-screen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792" y="4892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768A"/>
                </a:solidFill>
                <a:latin typeface="Menlo"/>
              </a:rPr>
              <a:t>AFTER  /  re-lettered in context by Gemini image editing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Same paper, same light, same focus; only the words changed. Alert fired, Remediator edited, Verifier re-observed the shot, the finding resolved, the alert closed. Re-lettering, prop substitution and TTS re-voicing all ship in the loop.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08 / 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Built, measured, deployed.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67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32257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market packs, spanning distinct regulatory regimes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6792" y="210312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226771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152" y="232257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rules, every one naming its statute or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42900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64845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observation dimensions in the fixed taxonomy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36792" y="342900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359359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5/6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4152" y="364845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planted landmines caught at the milestone gate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75488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91947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339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20" y="497433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offline tests green; live suite hits Gemini and Grafana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36792" y="4754880"/>
            <a:ext cx="5029200" cy="1143000"/>
          </a:xfrm>
          <a:prstGeom prst="rect">
            <a:avLst/>
          </a:prstGeom>
          <a:solidFill>
            <a:srgbClr val="11161C"/>
          </a:solidFill>
          <a:ln w="9525">
            <a:solidFill>
              <a:srgbClr val="2A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4919472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9D2E"/>
                </a:solidFill>
                <a:latin typeface="Menlo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4974336"/>
            <a:ext cx="3154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9DAFBE"/>
                </a:solidFill>
                <a:latin typeface="Helvetica Neue"/>
              </a:rPr>
              <a:t>Cloud Run service; SQLite; no build step on the console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9D2E"/>
                </a:solidFill>
                <a:latin typeface="Menlo"/>
              </a:rPr>
              <a:t>09 /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EEF4"/>
                </a:solidFill>
                <a:latin typeface="Helvetica Neue"/>
              </a:rPr>
              <a:t>From instrument to pre-flight standard.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MORE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103120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the pack format is the extension point; a market is a YAML file, not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VEO SHOT REGENERATION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761488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full shot re-render for the market, on top of re-letter, re-prop, re-voice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1985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CLEARANCE HISTORY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19856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campaign memory across assets: has this brand tripped this rule 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782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9D2E"/>
                </a:solidFill>
                <a:latin typeface="Menlo"/>
              </a:rPr>
              <a:t>HUMAN WORKFLOW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78224"/>
            <a:ext cx="7040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DAFBE"/>
                </a:solidFill>
                <a:latin typeface="Helvetica Neue"/>
              </a:rPr>
              <a:t>route Guard decisions to legal review with the statute attached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73752"/>
            <a:ext cx="10545775" cy="9525"/>
          </a:xfrm>
          <a:prstGeom prst="rect">
            <a:avLst/>
          </a:prstGeom>
          <a:solidFill>
            <a:srgbClr val="2A34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02352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EEF4"/>
                </a:solidFill>
                <a:latin typeface="Menlo"/>
              </a:rPr>
              <a:t>github.com/tdries/td-devpost-agentic-cinema</a:t>
            </a:r>
          </a:p>
          <a:p>
            <a:pPr algn="l">
              <a:lnSpc>
                <a:spcPct val="100000"/>
              </a:lnSpc>
              <a:spcBef>
                <a:spcPts val="600"/>
              </a:spcBef>
            </a:pPr>
            <a:r>
              <a:rPr sz="1300" b="0">
                <a:solidFill>
                  <a:srgbClr val="63768A"/>
                </a:solidFill>
                <a:latin typeface="Menlo"/>
              </a:rPr>
              <a:t>customs-app-akap4ao72a-ew.a.run.app  /  Grafana Labs track  /  Apache-2.0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