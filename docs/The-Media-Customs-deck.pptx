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38328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E8EEF4"/>
                </a:solidFill>
                <a:latin typeface="Menlo"/>
              </a:rPr>
              <a:t>THE MEDIA CUSTOMS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43400"/>
            <a:ext cx="94457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9DAFBE"/>
                </a:solidFill>
                <a:latin typeface="Helvetica Neue"/>
              </a:rPr>
              <a:t>An AI crew that clears your commercial for 15 markets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2200" b="0">
                <a:solidFill>
                  <a:srgbClr val="9DAFBE"/>
                </a:solidFill>
                <a:latin typeface="Helvetica Neue"/>
              </a:rPr>
              <a:t>and re-renders what fails.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3768A"/>
                </a:solidFill>
                <a:latin typeface="Menlo"/>
              </a:rPr>
              <a:t>AGENTIC CINEMA 2026  /  GRAFANA LABS TRACK  /  GEMINI + ADK + GRAFANA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234440"/>
            <a:ext cx="3566160" cy="18013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9D2E"/>
                </a:solidFill>
                <a:latin typeface="Menlo"/>
              </a:rPr>
              <a:t>01 /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E8EEF4"/>
                </a:solidFill>
                <a:latin typeface="Helvetica Neue"/>
              </a:rPr>
              <a:t>One spot, dozens of markets,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3600" b="1">
                <a:solidFill>
                  <a:srgbClr val="E8EEF4"/>
                </a:solidFill>
                <a:latin typeface="Helvetica Neue"/>
              </a:rPr>
              <a:t>and the public as your QA team.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377440"/>
            <a:ext cx="10545775" cy="9525"/>
          </a:xfrm>
          <a:prstGeom prst="rect">
            <a:avLst/>
          </a:prstGeom>
          <a:solidFill>
            <a:srgbClr val="2A3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697480"/>
            <a:ext cx="10543032" cy="114300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697480"/>
            <a:ext cx="28575" cy="1143000"/>
          </a:xfrm>
          <a:prstGeom prst="rect">
            <a:avLst/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807208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9D2E"/>
                </a:solidFill>
                <a:latin typeface="Menlo"/>
              </a:rPr>
              <a:t>REGULATED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807208"/>
            <a:ext cx="79552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9DAFBE"/>
                </a:solidFill>
                <a:latin typeface="Helvetica Neue"/>
              </a:rPr>
              <a:t>France bans TV alcohol ads (Loi Evin). Quebec bans ads to under-13s. The UK pre-clears every TV ad through Clearcast. Nigeria requires ARCON vetting. Each miss carries an invoice.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995928"/>
            <a:ext cx="10543032" cy="114300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995928"/>
            <a:ext cx="28575" cy="1143000"/>
          </a:xfrm>
          <a:prstGeom prst="rect">
            <a:avLst/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105656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9D2E"/>
                </a:solidFill>
                <a:latin typeface="Menlo"/>
              </a:rPr>
              <a:t>UNREGULATED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105656"/>
            <a:ext cx="79552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9DAFBE"/>
                </a:solidFill>
                <a:latin typeface="Helvetica Neue"/>
              </a:rPr>
              <a:t>Pepsi and Kendall Jenner. Dolce &amp; Gabbana in China. H&amp;M's hoodie. Burger King's chopsticks. Caught by the public, at a cost measured in tens of millions.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294376"/>
            <a:ext cx="10543032" cy="114300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294376"/>
            <a:ext cx="28575" cy="1143000"/>
          </a:xfrm>
          <a:prstGeom prst="rect">
            <a:avLst/>
          </a:prstGeom>
          <a:solidFill>
            <a:srgbClr val="637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404104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9D2E"/>
                </a:solidFill>
                <a:latin typeface="Menlo"/>
              </a:rPr>
              <a:t>TODAY'S DEFENCE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404104"/>
            <a:ext cx="79552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9DAFBE"/>
                </a:solidFill>
                <a:latin typeface="Helvetica Neue"/>
              </a:rPr>
              <a:t>A cultural consultant, a focus group, and luck. Nobody has an instrument for this.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9D2E"/>
                </a:solidFill>
                <a:latin typeface="Menlo"/>
              </a:rPr>
              <a:t>02 / THE INSTRUMENT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E8EEF4"/>
                </a:solidFill>
                <a:latin typeface="Helvetica Neue"/>
              </a:rPr>
              <a:t>Load a commercial. Watch it clear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3600" b="1">
                <a:solidFill>
                  <a:srgbClr val="E8EEF4"/>
                </a:solidFill>
                <a:latin typeface="Helvetica Neue"/>
              </a:rPr>
              <a:t>customs in real 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377440"/>
            <a:ext cx="10545775" cy="9525"/>
          </a:xfrm>
          <a:prstGeom prst="rect">
            <a:avLst/>
          </a:prstGeom>
          <a:solidFill>
            <a:srgbClr val="2A3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9DAFBE"/>
                </a:solidFill>
                <a:latin typeface="Helvetica Neue"/>
              </a:rPr>
              <a:t>Fifteen market tiles flip from pending to cleared, at risk or blocked as adjudicators return. Every finding cites the statute. The output is a decision (can this air here, on what evidence) and a localized master (the version that can).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931920"/>
            <a:ext cx="1600200" cy="137160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931920"/>
            <a:ext cx="28575" cy="1371600"/>
          </a:xfrm>
          <a:prstGeom prst="rect">
            <a:avLst/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4069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EEF4"/>
                </a:solidFill>
                <a:latin typeface="Menlo"/>
              </a:rPr>
              <a:t>FR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7091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4D5E"/>
                </a:solidFill>
                <a:latin typeface="Menlo"/>
              </a:rPr>
              <a:t>BLOCKED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24328" y="3931920"/>
            <a:ext cx="1600200" cy="137160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24328" y="3931920"/>
            <a:ext cx="28575" cy="1371600"/>
          </a:xfrm>
          <a:prstGeom prst="rect">
            <a:avLst/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4069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EEF4"/>
                </a:solidFill>
                <a:latin typeface="Menlo"/>
              </a:rPr>
              <a:t>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47091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4D5E"/>
                </a:solidFill>
                <a:latin typeface="Menlo"/>
              </a:rPr>
              <a:t>BLOCKED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25696" y="3931920"/>
            <a:ext cx="1600200" cy="137160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25696" y="3931920"/>
            <a:ext cx="28575" cy="1371600"/>
          </a:xfrm>
          <a:prstGeom prst="rect">
            <a:avLst/>
          </a:prstGeom>
          <a:solidFill>
            <a:srgbClr val="2FD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4069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EEF4"/>
                </a:solidFill>
                <a:latin typeface="Menlo"/>
              </a:rPr>
              <a:t>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47091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D67F"/>
                </a:solidFill>
                <a:latin typeface="Menlo"/>
              </a:rPr>
              <a:t>CLEARED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3931920"/>
            <a:ext cx="1600200" cy="137160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7064" y="3931920"/>
            <a:ext cx="28575" cy="1371600"/>
          </a:xfrm>
          <a:prstGeom prst="rect">
            <a:avLst/>
          </a:prstGeom>
          <a:solidFill>
            <a:srgbClr val="FF9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4069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EEF4"/>
                </a:solidFill>
                <a:latin typeface="Menlo"/>
              </a:rPr>
              <a:t>UK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47091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9D2E"/>
                </a:solidFill>
                <a:latin typeface="Menlo"/>
              </a:rPr>
              <a:t>AT RISK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28432" y="3931920"/>
            <a:ext cx="1600200" cy="137160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28432" y="3931920"/>
            <a:ext cx="28575" cy="1371600"/>
          </a:xfrm>
          <a:prstGeom prst="rect">
            <a:avLst/>
          </a:prstGeom>
          <a:solidFill>
            <a:srgbClr val="2FD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3024" y="4069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EEF4"/>
                </a:solidFill>
                <a:latin typeface="Menlo"/>
              </a:rPr>
              <a:t>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4" y="47091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D67F"/>
                </a:solidFill>
                <a:latin typeface="Menlo"/>
              </a:rPr>
              <a:t>CLEARED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29800" y="3931920"/>
            <a:ext cx="1600200" cy="137160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29800" y="3931920"/>
            <a:ext cx="28575" cy="1371600"/>
          </a:xfrm>
          <a:prstGeom prst="rect">
            <a:avLst/>
          </a:prstGeom>
          <a:solidFill>
            <a:srgbClr val="2FD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94392" y="4069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EEF4"/>
                </a:solidFill>
                <a:latin typeface="Menlo"/>
              </a:rPr>
              <a:t>JP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94392" y="47091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D67F"/>
                </a:solidFill>
                <a:latin typeface="Menlo"/>
              </a:rPr>
              <a:t>CLEARED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623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3768A"/>
                </a:solidFill>
                <a:latin typeface="Helvetica Neue"/>
              </a:rPr>
              <a:t>“Cleared for launch in 9 of 15 markets” is a go or no-go, not a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9D2E"/>
                </a:solidFill>
                <a:latin typeface="Menlo"/>
              </a:rPr>
              <a:t>03 / THE CREW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E8EEF4"/>
                </a:solidFill>
                <a:latin typeface="Helvetica Neue"/>
              </a:rPr>
              <a:t>Seven agents, one closed loop.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10545775" cy="9525"/>
          </a:xfrm>
          <a:prstGeom prst="rect">
            <a:avLst/>
          </a:prstGeom>
          <a:solidFill>
            <a:srgbClr val="2A3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9D2E"/>
                </a:solidFill>
                <a:latin typeface="Menlo"/>
              </a:rPr>
              <a:t>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0574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DAFBE"/>
                </a:solidFill>
                <a:latin typeface="Helvetica Neue"/>
              </a:rPr>
              <a:t>ffmpeg shots, keyframes, audio; Gemini transcription and OCR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2432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9D2E"/>
                </a:solidFill>
                <a:latin typeface="Menlo"/>
              </a:rPr>
              <a:t>ANALYST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62432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DAFBE"/>
                </a:solidFill>
                <a:latin typeface="Helvetica Neue"/>
              </a:rPr>
              <a:t>watches once; neutral timecoded observations, 18 dimensions, no verdicts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91256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9D2E"/>
                </a:solidFill>
                <a:latin typeface="Menlo"/>
              </a:rPr>
              <a:t>ADJUDICATORS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191256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DAFBE"/>
                </a:solidFill>
                <a:latin typeface="Helvetica Neue"/>
              </a:rPr>
              <a:t>one per market, in parallel; observations x rulebook, Google Search grounding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5818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9D2E"/>
                </a:solidFill>
                <a:latin typeface="Menlo"/>
              </a:rPr>
              <a:t>GUARD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758184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DAFBE"/>
                </a:solidFill>
                <a:latin typeface="Helvetica Neue"/>
              </a:rPr>
              <a:t>a rule layer, not a model; blocks protected-basis remediation, cannot be prompted 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2511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9D2E"/>
                </a:solidFill>
                <a:latin typeface="Menlo"/>
              </a:rPr>
              <a:t>PUBLISHER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32511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DAFBE"/>
                </a:solidFill>
                <a:latin typeface="Helvetica Neue"/>
              </a:rPr>
              <a:t>builds the Grafana surface over MCP; metrics, logs, annotations, alert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92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9D2E"/>
                </a:solidFill>
                <a:latin typeface="Menlo"/>
              </a:rPr>
              <a:t>REMEDIATOR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8920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DAFBE"/>
                </a:solidFill>
                <a:latin typeface="Helvetica Neue"/>
              </a:rPr>
              <a:t>woken by a Grafana alert; re-letters, re-props, re-voices the failing shot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5896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9D2E"/>
                </a:solidFill>
                <a:latin typeface="Menlo"/>
              </a:rPr>
              <a:t>VERIFIER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545896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DAFBE"/>
                </a:solidFill>
                <a:latin typeface="Helvetica Neue"/>
              </a:rPr>
              <a:t>re-runs the same instrument on the changed shots; only it may resolve a finding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11733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3768A"/>
                </a:solidFill>
                <a:latin typeface="Helvetica Neue"/>
              </a:rPr>
              <a:t>The Verifier closing back onto the Analyst is what makes this a crew rather than a pipeline.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9D2E"/>
                </a:solidFill>
                <a:latin typeface="Menlo"/>
              </a:rPr>
              <a:t>04 / THE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E8EEF4"/>
                </a:solidFill>
                <a:latin typeface="Helvetica Neue"/>
              </a:rPr>
              <a:t>Observe once. Judge per market.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10545775" cy="9525"/>
          </a:xfrm>
          <a:prstGeom prst="rect">
            <a:avLst/>
          </a:prstGeom>
          <a:solidFill>
            <a:srgbClr val="2A3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5029200" cy="310896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28575" cy="3108960"/>
          </a:xfrm>
          <a:prstGeom prst="rect">
            <a:avLst/>
          </a:prstGeom>
          <a:solidFill>
            <a:srgbClr val="FF9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9D2E"/>
                </a:solidFill>
                <a:latin typeface="Menlo"/>
              </a:rPr>
              <a:t>ONE MULTIMODAL PASS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sz="1500" b="0">
                <a:solidFill>
                  <a:srgbClr val="9DAFBE"/>
                </a:solidFill>
                <a:latin typeface="Helvetica Neue"/>
              </a:rPr>
              <a:t>The Analyst emits facts, never verdicts: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300" b="0">
                <a:solidFill>
                  <a:srgbClr val="E8EEF4"/>
                </a:solidFill>
                <a:latin typeface="Menlo"/>
              </a:rPr>
              <a:t>“A glass of red wine sits on the table in front of the left-hand actor.”  t=12.4s, conf 0.91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sz="1400" b="0">
                <a:solidFill>
                  <a:srgbClr val="63768A"/>
                </a:solidFill>
                <a:latin typeface="Helvetica Neue"/>
              </a:rPr>
              <a:t>No market. No severity. No opinion.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103120"/>
            <a:ext cx="5029200" cy="310896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2103120"/>
            <a:ext cx="28575" cy="3108960"/>
          </a:xfrm>
          <a:prstGeom prst="rect">
            <a:avLst/>
          </a:prstGeom>
          <a:solidFill>
            <a:srgbClr val="2FD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572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9D2E"/>
                </a:solidFill>
                <a:latin typeface="Menlo"/>
              </a:rPr>
              <a:t>FIFTEEN CHEAP JUDGES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sz="1500" b="0">
                <a:solidFill>
                  <a:srgbClr val="9DAFBE"/>
                </a:solidFill>
                <a:latin typeface="Helvetica Neue"/>
              </a:rPr>
              <a:t>Every finding is a join: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400" b="0">
                <a:solidFill>
                  <a:srgbClr val="E8EEF4"/>
                </a:solidFill>
                <a:latin typeface="Menlo"/>
              </a:rPr>
              <a:t>observation x market rule x citation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sz="1400" b="0">
                <a:solidFill>
                  <a:srgbClr val="9DAFBE"/>
                </a:solidFill>
                <a:latin typeface="Helvetica Neue"/>
              </a:rPr>
              <a:t>The expensive pass runs once, not per market. When a brand disputes a finding, “is the fact wrong” and “is the rule wrong” are separable questions.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321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3768A"/>
                </a:solidFill>
                <a:latin typeface="Helvetica Neue"/>
              </a:rPr>
              <a:t>Unsourced citations cap severity at 40 and never trigger remediation. 15 packs, 114 rules, every rule naming its statute or code.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9D2E"/>
                </a:solidFill>
                <a:latin typeface="Menlo"/>
              </a:rPr>
              <a:t>05 / THE 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E8EEF4"/>
                </a:solidFill>
                <a:latin typeface="Helvetica Neue"/>
              </a:rPr>
              <a:t>Some findings are not edits.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3600" b="1">
                <a:solidFill>
                  <a:srgbClr val="E8EEF4"/>
                </a:solidFill>
                <a:latin typeface="Helvetica Neue"/>
              </a:rPr>
              <a:t>They are decisions.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377440"/>
            <a:ext cx="10545775" cy="9525"/>
          </a:xfrm>
          <a:prstGeom prst="rect">
            <a:avLst/>
          </a:prstGeom>
          <a:solidFill>
            <a:srgbClr val="2A3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697480"/>
            <a:ext cx="10543032" cy="210312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697480"/>
            <a:ext cx="28575" cy="2103120"/>
          </a:xfrm>
          <a:prstGeom prst="rect">
            <a:avLst/>
          </a:prstGeom>
          <a:solidFill>
            <a:srgbClr val="8A6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880360"/>
            <a:ext cx="9966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9D2E"/>
                </a:solidFill>
                <a:latin typeface="Menlo"/>
              </a:rPr>
              <a:t>SA-LGBT-01  /  LEGAL  /  SEVERITY 90  /  SOURCED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600" b="0">
                <a:solidFill>
                  <a:srgbClr val="9DAFBE"/>
                </a:solidFill>
                <a:latin typeface="Helvetica Neue"/>
              </a:rPr>
              <a:t>The test ad shows a same-sex couple holding hands. Saudi Arabia's GAM media standards prohibit it. The Guard marks it remediation_blocked: the system names the problem, cites the regulation, and hands it to a human.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600" b="1">
                <a:solidFill>
                  <a:srgbClr val="E8EEF4"/>
                </a:solidFill>
                <a:latin typeface="Helvetica Neue"/>
              </a:rPr>
              <a:t>The Media Customs will tell you that you cannot ship into a market without censoring who appears in your ad. It will not do that for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3768A"/>
                </a:solidFill>
                <a:latin typeface="Helvetica Neue"/>
              </a:rPr>
              <a:t>The Guard reads only market-pack rule metadata, never model output, so it cannot be argued out of by a prompt. Offence-class findings are never auto-remediated either.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9D2E"/>
                </a:solidFill>
                <a:latin typeface="Menlo"/>
              </a:rPr>
              <a:t>06 / GRAFANA AS PARTICIPANT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EEF4"/>
                </a:solidFill>
                <a:latin typeface="Helvetica Neue"/>
              </a:rPr>
              <a:t>The crew builds its own instrument panel.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10545775" cy="9525"/>
          </a:xfrm>
          <a:prstGeom prst="rect">
            <a:avLst/>
          </a:prstGeom>
          <a:solidFill>
            <a:srgbClr val="2A3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10543032" cy="105156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28575" cy="1051560"/>
          </a:xfrm>
          <a:prstGeom prst="rect">
            <a:avLst/>
          </a:prstGeom>
          <a:solidFill>
            <a:srgbClr val="FF9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9D2E"/>
                </a:solidFill>
                <a:latin typeface="Menlo"/>
              </a:rPr>
              <a:t>THE CREW WRITES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194560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9DAFBE"/>
                </a:solidFill>
                <a:latin typeface="Helvetica Neue"/>
              </a:rPr>
              <a:t>The Publisher provisions six dashboards and the alert rules over the Grafana MCP server, pushes customs_risk to Mimir over OTLP, findings to Loki, and writes every finding as an annotation.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310128"/>
            <a:ext cx="10543032" cy="105156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310128"/>
            <a:ext cx="28575" cy="1051560"/>
          </a:xfrm>
          <a:prstGeom prst="rect">
            <a:avLst/>
          </a:prstGeom>
          <a:solidFill>
            <a:srgbClr val="FF9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01568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9D2E"/>
                </a:solidFill>
                <a:latin typeface="Menlo"/>
              </a:rPr>
              <a:t>GRAFANA TRIGGERS THE CREW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401568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9DAFBE"/>
                </a:solidFill>
                <a:latin typeface="Helvetica Neue"/>
              </a:rPr>
              <a:t>An alert rule fires a webhook into Cloud Run and wakes the Remediator. Grafana sits upstream of the work, not in a report after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517136"/>
            <a:ext cx="10543032" cy="105156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517136"/>
            <a:ext cx="28575" cy="1051560"/>
          </a:xfrm>
          <a:prstGeom prst="rect">
            <a:avLst/>
          </a:prstGeom>
          <a:solidFill>
            <a:srgbClr val="FF9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608576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9D2E"/>
                </a:solidFill>
                <a:latin typeface="Menlo"/>
              </a:rPr>
              <a:t>THE CREW READS 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608576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9DAFBE"/>
                </a:solidFill>
                <a:latin typeface="Helvetica Neue"/>
              </a:rPr>
              <a:t>Before remediating, the Remediator queries campaign history over MCP: has this brand tripped this rule before, and what was done.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769864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E8EEF4"/>
                </a:solidFill>
                <a:latin typeface="Helvetica Neue"/>
              </a:rPr>
              <a:t>When the Verifier confirms a fix, the metric drops and Grafana resolves the alert on its own. That resolution is the demo's closing beat.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9D2E"/>
                </a:solidFill>
                <a:latin typeface="Menlo"/>
              </a:rPr>
              <a:t>07 / HYPER-LOCALIZATION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EEF4"/>
                </a:solidFill>
                <a:latin typeface="Helvetica Neue"/>
              </a:rPr>
              <a:t>The Remediator re-renders what fails.</a:t>
            </a:r>
          </a:p>
        </p:txBody>
      </p:sp>
      <p:pic>
        <p:nvPicPr>
          <p:cNvPr id="5" name="Picture 4" descr="02-remediation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11680"/>
            <a:ext cx="5029200" cy="2825496"/>
          </a:xfrm>
          <a:prstGeom prst="rect">
            <a:avLst/>
          </a:prstGeom>
        </p:spPr>
      </p:pic>
      <p:pic>
        <p:nvPicPr>
          <p:cNvPr id="6" name="Picture 5" descr="03-remediation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011680"/>
            <a:ext cx="5029200" cy="2825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892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3768A"/>
                </a:solidFill>
                <a:latin typeface="Menlo"/>
              </a:rPr>
              <a:t>BEFORE  /  FR-LANG-01, Loi Toubon: English-only on-screen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6792" y="4892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3768A"/>
                </a:solidFill>
                <a:latin typeface="Menlo"/>
              </a:rPr>
              <a:t>AFTER  /  re-lettered in context by Gemini image editing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9DAFBE"/>
                </a:solidFill>
                <a:latin typeface="Helvetica Neue"/>
              </a:rPr>
              <a:t>Same paper, same light, same focus; only the words changed. Alert fired, Remediator edited, Verifier re-observed the shot, the finding resolved, the alert closed. Re-lettering, prop substitution and TTS re-voicing all ship in the loop.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9D2E"/>
                </a:solidFill>
                <a:latin typeface="Menlo"/>
              </a:rPr>
              <a:t>08 / WHERE IT STANDS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E8EEF4"/>
                </a:solidFill>
                <a:latin typeface="Helvetica Neue"/>
              </a:rPr>
              <a:t>Built, measured, deployed.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10545775" cy="9525"/>
          </a:xfrm>
          <a:prstGeom prst="rect">
            <a:avLst/>
          </a:prstGeom>
          <a:solidFill>
            <a:srgbClr val="2A3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5029200" cy="114300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67712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9D2E"/>
                </a:solidFill>
                <a:latin typeface="Menlo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322576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9DAFBE"/>
                </a:solidFill>
                <a:latin typeface="Helvetica Neue"/>
              </a:rPr>
              <a:t>market packs, spanning distinct regulatory regimes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36792" y="2103120"/>
            <a:ext cx="5029200" cy="114300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2267712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9D2E"/>
                </a:solidFill>
                <a:latin typeface="Menlo"/>
              </a:rPr>
              <a:t>114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4152" y="2322576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9DAFBE"/>
                </a:solidFill>
                <a:latin typeface="Helvetica Neue"/>
              </a:rPr>
              <a:t>rules, every one naming its statute or 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429000"/>
            <a:ext cx="5029200" cy="114300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93592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9D2E"/>
                </a:solidFill>
                <a:latin typeface="Menlo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648456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9DAFBE"/>
                </a:solidFill>
                <a:latin typeface="Helvetica Neue"/>
              </a:rPr>
              <a:t>observation dimensions in the fixed taxonomy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36792" y="3429000"/>
            <a:ext cx="5029200" cy="114300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3593592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9D2E"/>
                </a:solidFill>
                <a:latin typeface="Menlo"/>
              </a:rPr>
              <a:t>5/6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3648456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9DAFBE"/>
                </a:solidFill>
                <a:latin typeface="Helvetica Neue"/>
              </a:rPr>
              <a:t>planted landmines caught at the milestone gate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754880"/>
            <a:ext cx="5029200" cy="114300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919472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9D2E"/>
                </a:solidFill>
                <a:latin typeface="Menlo"/>
              </a:rPr>
              <a:t>339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974336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9DAFBE"/>
                </a:solidFill>
                <a:latin typeface="Helvetica Neue"/>
              </a:rPr>
              <a:t>offline tests green; live suite hits Gemini and Grafana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36792" y="4754880"/>
            <a:ext cx="5029200" cy="1143000"/>
          </a:xfrm>
          <a:prstGeom prst="rect">
            <a:avLst/>
          </a:prstGeom>
          <a:solidFill>
            <a:srgbClr val="11161C"/>
          </a:solidFill>
          <a:ln w="9525">
            <a:solidFill>
              <a:srgbClr val="2A3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4919472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9D2E"/>
                </a:solidFill>
                <a:latin typeface="Menlo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4152" y="4974336"/>
            <a:ext cx="3154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9DAFBE"/>
                </a:solidFill>
                <a:latin typeface="Helvetica Neue"/>
              </a:rPr>
              <a:t>Cloud Run service; SQLite; no build step on the console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9D2E"/>
                </a:solidFill>
                <a:latin typeface="Menlo"/>
              </a:rPr>
              <a:t>09 /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E8EEF4"/>
                </a:solidFill>
                <a:latin typeface="Helvetica Neue"/>
              </a:rPr>
              <a:t>From instrument to pre-flight standard.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10545775" cy="9525"/>
          </a:xfrm>
          <a:prstGeom prst="rect">
            <a:avLst/>
          </a:prstGeom>
          <a:solidFill>
            <a:srgbClr val="2A3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9D2E"/>
                </a:solidFill>
                <a:latin typeface="Menlo"/>
              </a:rPr>
              <a:t>MORE MARKETS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103120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DAFBE"/>
                </a:solidFill>
                <a:latin typeface="Helvetica Neue"/>
              </a:rPr>
              <a:t>the pack format is the extension point; a market is a YAML file, not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6148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9D2E"/>
                </a:solidFill>
                <a:latin typeface="Menlo"/>
              </a:rPr>
              <a:t>VEO SHOT REGENERATION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761488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DAFBE"/>
                </a:solidFill>
                <a:latin typeface="Helvetica Neue"/>
              </a:rPr>
              <a:t>full shot re-render for the market, on top of re-letter, re-prop, re-voice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1985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9D2E"/>
                </a:solidFill>
                <a:latin typeface="Menlo"/>
              </a:rPr>
              <a:t>CLEARANCE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419856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DAFBE"/>
                </a:solidFill>
                <a:latin typeface="Helvetica Neue"/>
              </a:rPr>
              <a:t>campaign memory across assets: has this brand tripped this rule 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7822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9D2E"/>
                </a:solidFill>
                <a:latin typeface="Menlo"/>
              </a:rPr>
              <a:t>HUMAN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4078224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DAFBE"/>
                </a:solidFill>
                <a:latin typeface="Helvetica Neue"/>
              </a:rPr>
              <a:t>route Guard decisions to legal review with the statute attached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873752"/>
            <a:ext cx="10545775" cy="9525"/>
          </a:xfrm>
          <a:prstGeom prst="rect">
            <a:avLst/>
          </a:prstGeom>
          <a:solidFill>
            <a:srgbClr val="2A3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102352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EF4"/>
                </a:solidFill>
                <a:latin typeface="Menlo"/>
              </a:rPr>
              <a:t>github.com/tdries/devpost-hackathon-agentic-cinema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300" b="0">
                <a:solidFill>
                  <a:srgbClr val="63768A"/>
                </a:solidFill>
                <a:latin typeface="Menlo"/>
              </a:rPr>
              <a:t>customs-app-akap4ao72a-ew.a.run.app  /  Grafana Labs track  /  Apache-2.0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